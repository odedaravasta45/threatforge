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228600"/>
            <a:ext cx="2468880" cy="960120"/>
          </a:xfrm>
          <a:prstGeom prst="rect">
            <a:avLst/>
          </a:prstGeom>
          <a:solidFill>
            <a:srgbClr val="151F30"/>
          </a:solidFill>
          <a:ln>
            <a:solidFill>
              <a:srgbClr val="15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6583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1F5F9"/>
                </a:solidFill>
                <a:latin typeface="Aptos"/>
              </a:rPr>
              <a:t>THREATLENS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5472" y="685800"/>
            <a:ext cx="914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5D399"/>
                </a:solidFill>
                <a:latin typeface="Aptos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9CDE6"/>
                </a:solidFill>
                <a:latin typeface="Aptos"/>
              </a:rPr>
              <a:t>THREAT INTELLIGENCE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965960"/>
            <a:ext cx="8778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1F5F9"/>
                </a:solidFill>
                <a:latin typeface="Aptos"/>
              </a:rPr>
              <a:t>Correlate alerts. Prioritise risk. Investigate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16352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2C4"/>
                </a:solidFill>
                <a:latin typeface="Aptos"/>
              </a:rPr>
              <a:t>IBM BoB AI Innovation Hackathon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3520440"/>
            <a:ext cx="1874519" cy="438912"/>
          </a:xfrm>
          <a:prstGeom prst="roundRect">
            <a:avLst/>
          </a:prstGeom>
          <a:solidFill>
            <a:srgbClr val="35D399"/>
          </a:solidFill>
          <a:ln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621024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80D16"/>
                </a:solidFill>
                <a:latin typeface="Aptos"/>
              </a:rPr>
              <a:t>THREATFORGE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251960"/>
            <a:ext cx="7863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4B2C4"/>
                </a:solidFill>
                <a:latin typeface="Aptos"/>
              </a:rPr>
              <a:t>AI Track  •  Threat Intelligence Correlation &amp; Alert Prioritisation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051560"/>
            <a:ext cx="2697480" cy="434340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34272" y="1353312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4B2C4"/>
                </a:solidFill>
                <a:latin typeface="Aptos"/>
              </a:rPr>
              <a:t>SOC / COMMAND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74519"/>
            <a:ext cx="2057400" cy="713232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002536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965960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4C91FF"/>
                </a:solidFill>
                <a:latin typeface="Aptos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834639"/>
            <a:ext cx="2057400" cy="713232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962656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INCIDENTS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926079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FFAA4B"/>
                </a:solidFill>
                <a:latin typeface="Aptos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794760"/>
            <a:ext cx="2057400" cy="713232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3922776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MCP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3886200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35D399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800600"/>
            <a:ext cx="187451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5D399"/>
                </a:solidFill>
                <a:latin typeface="Aptos"/>
              </a:rPr>
              <a:t>EVIDENCE →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THREATLENS AI  •  THREATFORGE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4B2C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228600"/>
            <a:ext cx="2468880" cy="960120"/>
          </a:xfrm>
          <a:prstGeom prst="rect">
            <a:avLst/>
          </a:prstGeom>
          <a:solidFill>
            <a:srgbClr val="151F30"/>
          </a:solidFill>
          <a:ln>
            <a:solidFill>
              <a:srgbClr val="15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99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86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76809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Why security teams lose time before they can act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3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417320"/>
            <a:ext cx="3474720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54864" cy="1874519"/>
          </a:xfrm>
          <a:prstGeom prst="rect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819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ALERT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984248"/>
            <a:ext cx="309067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Multiple feeds produce duplicate, noisy and disconnected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474720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54864" cy="1874519"/>
          </a:xfrm>
          <a:prstGeom prst="rect">
            <a:avLst/>
          </a:prstGeom>
          <a:solidFill>
            <a:srgbClr val="FFAA4B"/>
          </a:solidFill>
          <a:ln>
            <a:solidFill>
              <a:srgbClr val="FFA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5819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MANUAL 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1984248"/>
            <a:ext cx="309067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Analysts must connect IPs, hosts, indicators and techniques by hand.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74720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54864" cy="1874519"/>
          </a:xfrm>
          <a:prstGeom prst="rect">
            <a:avLst/>
          </a:prstGeom>
          <a:solidFill>
            <a:srgbClr val="4C91FF"/>
          </a:solidFill>
          <a:ln>
            <a:solidFill>
              <a:srgbClr val="4C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5819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SLOW PRIORITISATION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1984248"/>
            <a:ext cx="3090672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Without context, genuine threats can look like isolated low-value events.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What the problem statement asks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24528"/>
            <a:ext cx="64008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Ingest multi-source threat feeds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Correlate related alerts and reduce false positives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Map evidence to MITRE ATT&amp;CK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Prioritise incidents and produce a concise investigation summary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886200"/>
            <a:ext cx="3886200" cy="1783080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4160520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5D399"/>
                </a:solidFill>
                <a:latin typeface="Aptos"/>
              </a:rPr>
              <a:t>CORE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553712"/>
            <a:ext cx="3246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1F5F9"/>
                </a:solidFill>
                <a:latin typeface="Aptos"/>
              </a:rPr>
              <a:t>Alerts are plentiful.
Actionable context is not.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THREATLENS AI  •  THREATFORGE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4B2C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228600"/>
            <a:ext cx="2468880" cy="960120"/>
          </a:xfrm>
          <a:prstGeom prst="rect">
            <a:avLst/>
          </a:prstGeom>
          <a:solidFill>
            <a:srgbClr val="151F30"/>
          </a:solidFill>
          <a:ln>
            <a:solidFill>
              <a:srgbClr val="15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99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86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76809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ThreatLens turns scattered alerts into an investigation-ready incident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3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481328"/>
            <a:ext cx="1627632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6420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39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574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87168"/>
            <a:ext cx="12344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Multi-source alerts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0552" y="2414016"/>
            <a:ext cx="246887" cy="0"/>
          </a:xfrm>
          <a:prstGeom prst="line">
            <a:avLst/>
          </a:prstGeom>
          <a:ln w="25400">
            <a:solidFill>
              <a:srgbClr val="35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04872" y="1481328"/>
            <a:ext cx="1627632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9464" y="166420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399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0574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2487168"/>
            <a:ext cx="12344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Common schema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32504" y="2414016"/>
            <a:ext cx="246888" cy="0"/>
          </a:xfrm>
          <a:prstGeom prst="line">
            <a:avLst/>
          </a:prstGeom>
          <a:ln w="25400">
            <a:solidFill>
              <a:srgbClr val="35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06824" y="1481328"/>
            <a:ext cx="1627632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71416" y="166420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39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20574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CORRELATE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487168"/>
            <a:ext cx="12344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Shared entities + context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34456" y="2414016"/>
            <a:ext cx="246888" cy="0"/>
          </a:xfrm>
          <a:prstGeom prst="line">
            <a:avLst/>
          </a:prstGeom>
          <a:ln w="25400">
            <a:solidFill>
              <a:srgbClr val="35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08776" y="1481328"/>
            <a:ext cx="1627632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166420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39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0574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PRIORITISE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487168"/>
            <a:ext cx="12344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Risk / severity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36408" y="2414016"/>
            <a:ext cx="246888" cy="0"/>
          </a:xfrm>
          <a:prstGeom prst="line">
            <a:avLst/>
          </a:prstGeom>
          <a:ln w="25400">
            <a:solidFill>
              <a:srgbClr val="35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10728" y="1481328"/>
            <a:ext cx="1627632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166420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399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0574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INVESTIGATE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487168"/>
            <a:ext cx="12344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MITRE +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38360" y="2414016"/>
            <a:ext cx="246888" cy="0"/>
          </a:xfrm>
          <a:prstGeom prst="line">
            <a:avLst/>
          </a:prstGeom>
          <a:ln w="25400">
            <a:solidFill>
              <a:srgbClr val="35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12680" y="1481328"/>
            <a:ext cx="1627632" cy="1874519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77272" y="166420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399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77272" y="20574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BLUF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7272" y="2487168"/>
            <a:ext cx="12344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Commander-ready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91363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One investigation surface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343400"/>
            <a:ext cx="6217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Aptos"/>
              </a:rPr>
              <a:t>The analyst sees the evidence chain, not six disconnected notifications.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3858768"/>
            <a:ext cx="4069080" cy="1325880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26679" y="409651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5D399"/>
                </a:solidFill>
                <a:latin typeface="Aptos"/>
              </a:rPr>
              <a:t>OUTCOME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4498848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Aptos"/>
              </a:rPr>
              <a:t>Faster triage • clearer evidence • focused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THREATLENS AI  •  THREATFORGE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4B2C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228600"/>
            <a:ext cx="2468880" cy="960120"/>
          </a:xfrm>
          <a:prstGeom prst="rect">
            <a:avLst/>
          </a:prstGeom>
          <a:solidFill>
            <a:srgbClr val="151F30"/>
          </a:solidFill>
          <a:ln>
            <a:solidFill>
              <a:srgbClr val="15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99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86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76809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A modular pipeline from alert ingestion to AI-assisted investigation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3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1298448"/>
            <a:ext cx="10744200" cy="566928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98448"/>
            <a:ext cx="73152" cy="566928"/>
          </a:xfrm>
          <a:prstGeom prst="rect">
            <a:avLst/>
          </a:prstGeom>
          <a:solidFill>
            <a:srgbClr val="4C91FF"/>
          </a:solidFill>
          <a:ln>
            <a:solidFill>
              <a:srgbClr val="4C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389888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91FF"/>
                </a:solidFill>
                <a:latin typeface="Aptos"/>
              </a:rPr>
              <a:t>DATA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380744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EDR / SIEM / IDS / Threat Feeds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57400"/>
            <a:ext cx="10744200" cy="566928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057400"/>
            <a:ext cx="73152" cy="566928"/>
          </a:xfrm>
          <a:prstGeom prst="rect">
            <a:avLst/>
          </a:prstGeom>
          <a:solidFill>
            <a:srgbClr val="39CDE6"/>
          </a:solidFill>
          <a:ln>
            <a:solidFill>
              <a:srgbClr val="3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148840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9CDE6"/>
                </a:solidFill>
                <a:latin typeface="Aptos"/>
              </a:rPr>
              <a:t>INGESTION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39696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FastAPI  •  Normalize  •  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16352"/>
            <a:ext cx="10744200" cy="566928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816352"/>
            <a:ext cx="73152" cy="566928"/>
          </a:xfrm>
          <a:prstGeom prst="rect">
            <a:avLst/>
          </a:prstGeom>
          <a:solidFill>
            <a:srgbClr val="35D399"/>
          </a:solidFill>
          <a:ln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907792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D399"/>
                </a:solidFill>
                <a:latin typeface="Aptos"/>
              </a:rPr>
              <a:t>CORRELATION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898648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Entity overlap  •  Risk scoring  •  Incident creation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75303"/>
            <a:ext cx="10744200" cy="566928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75303"/>
            <a:ext cx="73152" cy="566928"/>
          </a:xfrm>
          <a:prstGeom prst="rect">
            <a:avLst/>
          </a:prstGeom>
          <a:solidFill>
            <a:srgbClr val="FFAA4B"/>
          </a:solidFill>
          <a:ln>
            <a:solidFill>
              <a:srgbClr val="FFA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666744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AA4B"/>
                </a:solidFill>
                <a:latin typeface="Aptos"/>
              </a:rPr>
              <a:t>SECURITY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657599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MITRE ATT&amp;CK  •  Indicators  •  Investigation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34256"/>
            <a:ext cx="10744200" cy="566928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334256"/>
            <a:ext cx="73152" cy="566928"/>
          </a:xfrm>
          <a:prstGeom prst="rect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4256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45B69"/>
                </a:solidFill>
                <a:latin typeface="Aptos"/>
              </a:rPr>
              <a:t>AI / AGENT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416552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tos"/>
              </a:rPr>
              <a:t>IBM Bob  ↔  ThreatLens MCP Server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093207"/>
            <a:ext cx="10744200" cy="566928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5093207"/>
            <a:ext cx="73152" cy="566928"/>
          </a:xfrm>
          <a:prstGeom prst="rect">
            <a:avLst/>
          </a:prstGeom>
          <a:solidFill>
            <a:srgbClr val="4C91FF"/>
          </a:solidFill>
          <a:ln>
            <a:solidFill>
              <a:srgbClr val="4C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184647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91FF"/>
                </a:solidFill>
                <a:latin typeface="Aptos"/>
              </a:rPr>
              <a:t>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5175503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Aptos"/>
              </a:rPr>
              <a:t>React + Vite  •  Dashboard  •  Reports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989320"/>
            <a:ext cx="3383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35D399"/>
                </a:solidFill>
                <a:latin typeface="Aptos"/>
              </a:rPr>
              <a:t>LOAD-BEARING IBM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THREATLENS AI  •  THREATFORGE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4B2C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228600"/>
            <a:ext cx="2468880" cy="960120"/>
          </a:xfrm>
          <a:prstGeom prst="rect">
            <a:avLst/>
          </a:prstGeom>
          <a:solidFill>
            <a:srgbClr val="151F30"/>
          </a:solidFill>
          <a:ln>
            <a:solidFill>
              <a:srgbClr val="15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99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86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76809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A repeatable end-to-end scenario for the working prototype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3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371600"/>
            <a:ext cx="3429000" cy="155448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54864" cy="1554480"/>
          </a:xfrm>
          <a:prstGeom prst="rect">
            <a:avLst/>
          </a:prstGeom>
          <a:solidFill>
            <a:srgbClr val="4C91FF"/>
          </a:solidFill>
          <a:ln>
            <a:solidFill>
              <a:srgbClr val="4C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361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SIMULATE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044952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Generate a multi-source attack pattern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71600"/>
            <a:ext cx="3429000" cy="155448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371600"/>
            <a:ext cx="54864" cy="1554480"/>
          </a:xfrm>
          <a:prstGeom prst="rect">
            <a:avLst/>
          </a:prstGeom>
          <a:solidFill>
            <a:srgbClr val="35D399"/>
          </a:solidFill>
          <a:ln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5361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CORRELATE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38528"/>
            <a:ext cx="3044952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6 alerts → 1 correlated incident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71600"/>
            <a:ext cx="3429000" cy="155448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54864" cy="1554480"/>
          </a:xfrm>
          <a:prstGeom prst="rect">
            <a:avLst/>
          </a:prstGeom>
          <a:solidFill>
            <a:srgbClr val="FFAA4B"/>
          </a:solidFill>
          <a:ln>
            <a:solidFill>
              <a:srgbClr val="FFA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153619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PRIORITISE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1938528"/>
            <a:ext cx="3044952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Rank by severity, risk and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246120"/>
            <a:ext cx="3429000" cy="155448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246120"/>
            <a:ext cx="54864" cy="1554480"/>
          </a:xfrm>
          <a:prstGeom prst="rect">
            <a:avLst/>
          </a:prstGeom>
          <a:solidFill>
            <a:srgbClr val="F45B69"/>
          </a:solidFill>
          <a:ln>
            <a:solidFill>
              <a:srgbClr val="F4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41071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INVESTIGATE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3813048"/>
            <a:ext cx="3044952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Open incident context + MITRE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46120"/>
            <a:ext cx="3429000" cy="155448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246120"/>
            <a:ext cx="54864" cy="1554480"/>
          </a:xfrm>
          <a:prstGeom prst="rect">
            <a:avLst/>
          </a:prstGeom>
          <a:solidFill>
            <a:srgbClr val="39CDE6"/>
          </a:solidFill>
          <a:ln>
            <a:solidFill>
              <a:srgbClr val="3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41071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BOB + 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813048"/>
            <a:ext cx="3044952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Query live incident evidence through 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46120"/>
            <a:ext cx="3429000" cy="155448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246120"/>
            <a:ext cx="54864" cy="1554480"/>
          </a:xfrm>
          <a:prstGeom prst="rect">
            <a:avLst/>
          </a:prstGeom>
          <a:solidFill>
            <a:srgbClr val="35D399"/>
          </a:solidFill>
          <a:ln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41071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Aptos"/>
              </a:rPr>
              <a:t>BLUF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813048"/>
            <a:ext cx="3044952" cy="8412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Return concise findings + recommended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321808"/>
            <a:ext cx="10972800" cy="548640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46811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35D399"/>
                </a:solidFill>
                <a:latin typeface="Aptos"/>
              </a:rPr>
              <a:t>DEMO SUCCESS SIGNAL  </a:t>
            </a:r>
            <a:r>
              <a:rPr sz="1250" b="0">
                <a:solidFill>
                  <a:srgbClr val="F1F5F9"/>
                </a:solidFill>
                <a:latin typeface="Aptos"/>
              </a:rPr>
              <a:t>the same incident is visible in the dashboard, API and Bob investigation flow.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THREATLENS AI  •  THREATFORGE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4B2C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228600"/>
            <a:ext cx="2468880" cy="960120"/>
          </a:xfrm>
          <a:prstGeom prst="rect">
            <a:avLst/>
          </a:prstGeom>
          <a:solidFill>
            <a:srgbClr val="151F30"/>
          </a:solidFill>
          <a:ln>
            <a:solidFill>
              <a:srgbClr val="15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99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86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IBM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76809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How IBM BoB is integrated as an investigation interface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3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325880"/>
            <a:ext cx="4617720" cy="452628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64208"/>
            <a:ext cx="39776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1F5F9"/>
                </a:solidFill>
                <a:latin typeface="Aptos"/>
              </a:rPr>
              <a:t>IBM BoB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39776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9CDE6"/>
                </a:solidFill>
                <a:latin typeface="Aptos"/>
              </a:rPr>
              <a:t>AI coding / investigation agent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43000" y="2743200"/>
            <a:ext cx="3611880" cy="0"/>
          </a:xfrm>
          <a:prstGeom prst="line">
            <a:avLst/>
          </a:prstGeom>
          <a:ln w="12700">
            <a:solidFill>
              <a:srgbClr val="23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24128" y="3063240"/>
            <a:ext cx="3886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Uses the repository's .bob/mcp.json configuration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Can call ThreatLens MCP tools during investigation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• Gets live incident and evidence context instead of static demo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325880"/>
            <a:ext cx="5897880" cy="452628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645920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5D399"/>
                </a:solidFill>
                <a:latin typeface="Aptos"/>
              </a:rPr>
              <a:t>THREATLENS MCP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212848"/>
            <a:ext cx="4892040" cy="438912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2331720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get_incident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807208"/>
            <a:ext cx="4892040" cy="438912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2926079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get_correlated_alerts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3401568"/>
            <a:ext cx="4892040" cy="438912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3520439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get_investigation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995928"/>
            <a:ext cx="4892040" cy="438912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114800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search_indicator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4590288"/>
            <a:ext cx="4892040" cy="438912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4709159"/>
            <a:ext cx="4389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Aptos"/>
              </a:rPr>
              <a:t>get_mitre_coverage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5303520"/>
            <a:ext cx="5074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4B2C4"/>
                </a:solidFill>
                <a:latin typeface="Aptos"/>
              </a:rPr>
              <a:t>Bob asks → MCP tools retrieve → evidence returned → investigation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THREATLENS AI  •  THREATFORGE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4B2C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228600"/>
            <a:ext cx="2468880" cy="960120"/>
          </a:xfrm>
          <a:prstGeom prst="rect">
            <a:avLst/>
          </a:prstGeom>
          <a:solidFill>
            <a:srgbClr val="151F30"/>
          </a:solidFill>
          <a:ln>
            <a:solidFill>
              <a:srgbClr val="15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99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86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Results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76809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Prototype results from the repeatable demo scenario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3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417320"/>
            <a:ext cx="2468880" cy="150876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6276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4C91FF"/>
                </a:solidFill>
                <a:latin typeface="Aptos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3134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4B2C4"/>
                </a:solidFill>
                <a:latin typeface="Aptos"/>
              </a:rPr>
              <a:t>alerts generated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468880" cy="150876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16276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FAA4B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134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4B2C4"/>
                </a:solidFill>
                <a:latin typeface="Aptos"/>
              </a:rPr>
              <a:t>correlated incident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417320"/>
            <a:ext cx="2468880" cy="150876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6276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35D399"/>
                </a:solidFill>
                <a:latin typeface="Aptos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134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4B2C4"/>
                </a:solidFill>
                <a:latin typeface="Aptos"/>
              </a:rPr>
              <a:t>MCP investigation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417320"/>
            <a:ext cx="2468880" cy="1508760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627632"/>
            <a:ext cx="2148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39CDE6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31343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4B2C4"/>
                </a:solidFill>
                <a:latin typeface="Aptos"/>
              </a:rPr>
              <a:t>BLUF investigation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4015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Aptos"/>
              </a:rPr>
              <a:t>What this demonstrates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94760"/>
            <a:ext cx="64922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Correlation is visible and explainable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Prioritisation is tied to evidence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MITRE context is attached to the investigation</a:t>
            </a:r>
          </a:p>
          <a:p>
            <a:pPr>
              <a:spcAft>
                <a:spcPts val="800"/>
              </a:spcAft>
              <a:defRPr sz="1500">
                <a:solidFill>
                  <a:srgbClr val="F1F5F9"/>
                </a:solidFill>
                <a:latin typeface="Aptos"/>
              </a:defRPr>
            </a:pPr>
            <a:r>
              <a:t>• Bob can consume the live security context through MCP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3429000"/>
            <a:ext cx="3749039" cy="1874519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370332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AA4B"/>
                </a:solidFill>
                <a:latin typeface="Aptos"/>
              </a:rPr>
              <a:t>IMPORTANT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65008" y="4096512"/>
            <a:ext cx="30632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Aptos"/>
              </a:rPr>
              <a:t>These are prototype demo metrics — not production performance benchmarks.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THREATLENS AI  •  THREATFORGE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4B2C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-228600"/>
            <a:ext cx="2468880" cy="960120"/>
          </a:xfrm>
          <a:prstGeom prst="rect">
            <a:avLst/>
          </a:prstGeom>
          <a:solidFill>
            <a:srgbClr val="151F30"/>
          </a:solidFill>
          <a:ln>
            <a:solidFill>
              <a:srgbClr val="15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5D399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2860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1F5F9"/>
                </a:solidFill>
                <a:latin typeface="Aptos"/>
              </a:rPr>
              <a:t>Team ThreatForge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768096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4B2C4"/>
                </a:solidFill>
                <a:latin typeface="Aptos"/>
              </a:rPr>
              <a:t>Building the command center for the hackathon challenge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078992"/>
            <a:ext cx="11183112" cy="0"/>
          </a:xfrm>
          <a:prstGeom prst="line">
            <a:avLst/>
          </a:prstGeom>
          <a:ln w="12700">
            <a:solidFill>
              <a:srgbClr val="2331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371600"/>
            <a:ext cx="5074920" cy="1353312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4864" cy="1353312"/>
          </a:xfrm>
          <a:prstGeom prst="rect">
            <a:avLst/>
          </a:prstGeom>
          <a:solidFill>
            <a:srgbClr val="35D399"/>
          </a:solidFill>
          <a:ln>
            <a:solidFill>
              <a:srgbClr val="35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36192"/>
            <a:ext cx="47091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PINAK GATHANI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38528"/>
            <a:ext cx="4690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Team /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074920" cy="1353312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864" cy="1353312"/>
          </a:xfrm>
          <a:prstGeom prst="rect">
            <a:avLst/>
          </a:prstGeom>
          <a:solidFill>
            <a:srgbClr val="4C91FF"/>
          </a:solidFill>
          <a:ln>
            <a:solidFill>
              <a:srgbClr val="4C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536192"/>
            <a:ext cx="47091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VASTA ODEDARA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38528"/>
            <a:ext cx="4690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Engineering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074920" cy="1353312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54864" cy="1353312"/>
          </a:xfrm>
          <a:prstGeom prst="rect">
            <a:avLst/>
          </a:prstGeom>
          <a:solidFill>
            <a:srgbClr val="FFAA4B"/>
          </a:solidFill>
          <a:ln>
            <a:solidFill>
              <a:srgbClr val="FFA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227832"/>
            <a:ext cx="47091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RUPAM CHAVDA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30168"/>
            <a:ext cx="4690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063240"/>
            <a:ext cx="5074920" cy="1353312"/>
          </a:xfrm>
          <a:prstGeom prst="roundRect">
            <a:avLst/>
          </a:prstGeom>
          <a:solidFill>
            <a:srgbClr val="101826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63240"/>
            <a:ext cx="54864" cy="1353312"/>
          </a:xfrm>
          <a:prstGeom prst="rect">
            <a:avLst/>
          </a:prstGeom>
          <a:solidFill>
            <a:srgbClr val="39CDE6"/>
          </a:solidFill>
          <a:ln>
            <a:solidFill>
              <a:srgbClr val="39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7" y="3227832"/>
            <a:ext cx="47091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Aptos"/>
              </a:rPr>
              <a:t>KRISH PATEL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7" y="3630168"/>
            <a:ext cx="46908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4B2C4"/>
                </a:solidFill>
                <a:latin typeface="Aptos"/>
              </a:rPr>
              <a:t>Engineering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83480"/>
            <a:ext cx="10698480" cy="685800"/>
          </a:xfrm>
          <a:prstGeom prst="roundRect">
            <a:avLst/>
          </a:prstGeom>
          <a:solidFill>
            <a:srgbClr val="151F30"/>
          </a:solidFill>
          <a:ln>
            <a:solidFill>
              <a:srgbClr val="2331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02936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5D399"/>
                </a:solidFill>
                <a:latin typeface="Aptos"/>
              </a:rPr>
              <a:t>THREATLENS AI  •  THREATFORGE  •  IBM BoB AI INNOVATION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4B2C4"/>
                </a:solidFill>
                <a:latin typeface="Aptos"/>
              </a:rPr>
              <a:t>THREATLENS AI  •  THREATFORGE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A4B2C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